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764d54d9bd4baa" /><Relationship Type="http://schemas.openxmlformats.org/officeDocument/2006/relationships/extended-properties" Target="/docProps/app.xml" Id="Rc6fd3bd1916c42a6" /><Relationship Type="http://schemas.openxmlformats.org/officeDocument/2006/relationships/officeDocument" Target="/ppt/presentation.xml" Id="R2776a918386d4e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34bfd6e64e4ec7"/>
  </p:sldMasterIdLst>
  <p:notesMasterIdLst>
    <p:notesMasterId xmlns:r="http://schemas.openxmlformats.org/officeDocument/2006/relationships" r:id="Rff03cf07e3f942d3"/>
  </p:notesMasterIdLst>
  <p:sldIdLst>
    <p:sldId xmlns:r="http://schemas.openxmlformats.org/officeDocument/2006/relationships" id="256" r:id="Rd7e5db884d474f34"/>
    <p:sldId xmlns:r="http://schemas.openxmlformats.org/officeDocument/2006/relationships" id="257" r:id="R4eff813b3ee5435e"/>
    <p:sldId xmlns:r="http://schemas.openxmlformats.org/officeDocument/2006/relationships" id="258" r:id="R0d7f00301bdc4826"/>
    <p:sldId xmlns:r="http://schemas.openxmlformats.org/officeDocument/2006/relationships" id="259" r:id="Rab4a73a1ca8b4887"/>
    <p:sldId xmlns:r="http://schemas.openxmlformats.org/officeDocument/2006/relationships" id="260" r:id="R1c12ce973ff4473d"/>
    <p:sldId xmlns:r="http://schemas.openxmlformats.org/officeDocument/2006/relationships" id="261" r:id="R7031a6eb9bd84af9"/>
    <p:sldId xmlns:r="http://schemas.openxmlformats.org/officeDocument/2006/relationships" id="262" r:id="Re5b67569f5ce4743"/>
    <p:sldId xmlns:r="http://schemas.openxmlformats.org/officeDocument/2006/relationships" id="263" r:id="R7e59e90f6584451b"/>
    <p:sldId xmlns:r="http://schemas.openxmlformats.org/officeDocument/2006/relationships" id="264" r:id="R0db32fbdd6f34cce"/>
    <p:sldId xmlns:r="http://schemas.openxmlformats.org/officeDocument/2006/relationships" id="265" r:id="Ra268738ee0c5421a"/>
    <p:sldId xmlns:r="http://schemas.openxmlformats.org/officeDocument/2006/relationships" id="266" r:id="R468e3336ad5944c3"/>
    <p:sldId xmlns:r="http://schemas.openxmlformats.org/officeDocument/2006/relationships" id="267" r:id="Re02242335a8241fe"/>
    <p:sldId xmlns:r="http://schemas.openxmlformats.org/officeDocument/2006/relationships" id="268" r:id="Rae5ab5728d3544f2"/>
    <p:sldId xmlns:r="http://schemas.openxmlformats.org/officeDocument/2006/relationships" id="269" r:id="R6af08d97442141b9"/>
    <p:sldId xmlns:r="http://schemas.openxmlformats.org/officeDocument/2006/relationships" id="270" r:id="Rd736839ff45546ba"/>
    <p:sldId xmlns:r="http://schemas.openxmlformats.org/officeDocument/2006/relationships" id="271" r:id="Rb6d96b0244e44ce0"/>
    <p:sldId xmlns:r="http://schemas.openxmlformats.org/officeDocument/2006/relationships" id="272" r:id="Re2b5c96d54654d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5ca3c501f49c2" /><Relationship Type="http://schemas.openxmlformats.org/officeDocument/2006/relationships/slideMaster" Target="/ppt/slideMasters/slideMaster1.xml" Id="Rf734bfd6e64e4ec7" /><Relationship Type="http://schemas.openxmlformats.org/officeDocument/2006/relationships/notesMaster" Target="/ppt/notesMasters/notesMaster1.xml" Id="Rff03cf07e3f942d3" /><Relationship Type="http://schemas.openxmlformats.org/officeDocument/2006/relationships/presProps" Target="/ppt/presProps.xml" Id="R1716e6f367e24262" /><Relationship Type="http://schemas.openxmlformats.org/officeDocument/2006/relationships/tableStyles" Target="/ppt/tableStyles.xml" Id="R3e48ed711f654801" /><Relationship Type="http://schemas.openxmlformats.org/officeDocument/2006/relationships/slide" Target="/ppt/slides/slide1.xml" Id="Rd7e5db884d474f34" /><Relationship Type="http://schemas.openxmlformats.org/officeDocument/2006/relationships/slide" Target="/ppt/slides/slide2.xml" Id="R4eff813b3ee5435e" /><Relationship Type="http://schemas.openxmlformats.org/officeDocument/2006/relationships/slide" Target="/ppt/slides/slide3.xml" Id="R0d7f00301bdc4826" /><Relationship Type="http://schemas.openxmlformats.org/officeDocument/2006/relationships/slide" Target="/ppt/slides/slide4.xml" Id="Rab4a73a1ca8b4887" /><Relationship Type="http://schemas.openxmlformats.org/officeDocument/2006/relationships/slide" Target="/ppt/slides/slide5.xml" Id="R1c12ce973ff4473d" /><Relationship Type="http://schemas.openxmlformats.org/officeDocument/2006/relationships/slide" Target="/ppt/slides/slide6.xml" Id="R7031a6eb9bd84af9" /><Relationship Type="http://schemas.openxmlformats.org/officeDocument/2006/relationships/slide" Target="/ppt/slides/slide7.xml" Id="Re5b67569f5ce4743" /><Relationship Type="http://schemas.openxmlformats.org/officeDocument/2006/relationships/slide" Target="/ppt/slides/slide8.xml" Id="R7e59e90f6584451b" /><Relationship Type="http://schemas.openxmlformats.org/officeDocument/2006/relationships/slide" Target="/ppt/slides/slide9.xml" Id="R0db32fbdd6f34cce" /><Relationship Type="http://schemas.openxmlformats.org/officeDocument/2006/relationships/slide" Target="/ppt/slides/slide10.xml" Id="Ra268738ee0c5421a" /><Relationship Type="http://schemas.openxmlformats.org/officeDocument/2006/relationships/slide" Target="/ppt/slides/slide11.xml" Id="R468e3336ad5944c3" /><Relationship Type="http://schemas.openxmlformats.org/officeDocument/2006/relationships/slide" Target="/ppt/slides/slide12.xml" Id="Re02242335a8241fe" /><Relationship Type="http://schemas.openxmlformats.org/officeDocument/2006/relationships/slide" Target="/ppt/slides/slide13.xml" Id="Rae5ab5728d3544f2" /><Relationship Type="http://schemas.openxmlformats.org/officeDocument/2006/relationships/slide" Target="/ppt/slides/slide14.xml" Id="R6af08d97442141b9" /><Relationship Type="http://schemas.openxmlformats.org/officeDocument/2006/relationships/slide" Target="/ppt/slides/slide15.xml" Id="Rd736839ff45546ba" /><Relationship Type="http://schemas.openxmlformats.org/officeDocument/2006/relationships/slide" Target="/ppt/slides/slide16.xml" Id="Rb6d96b0244e44ce0" /><Relationship Type="http://schemas.openxmlformats.org/officeDocument/2006/relationships/slide" Target="/ppt/slides/slide17.xml" Id="Re2b5c96d5465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dc68b28cea41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4483472e74b4e" /><Relationship Type="http://schemas.openxmlformats.org/officeDocument/2006/relationships/notesMaster" Target="/ppt/notesMasters/notesMaster1.xml" Id="R904d11cd4d2d4f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cb35fd0f644f4" /><Relationship Type="http://schemas.openxmlformats.org/officeDocument/2006/relationships/notesMaster" Target="/ppt/notesMasters/notesMaster1.xml" Id="R5e536b65b80c43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7c95a9e6014b17" /><Relationship Type="http://schemas.openxmlformats.org/officeDocument/2006/relationships/notesMaster" Target="/ppt/notesMasters/notesMaster1.xml" Id="R02848026f9be46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96994c498f4414" /><Relationship Type="http://schemas.openxmlformats.org/officeDocument/2006/relationships/notesMaster" Target="/ppt/notesMasters/notesMaster1.xml" Id="R89ddf6fa091d42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0432bd9f7c475e" /><Relationship Type="http://schemas.openxmlformats.org/officeDocument/2006/relationships/notesMaster" Target="/ppt/notesMasters/notesMaster1.xml" Id="R7ccb704e1e54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90e78e436f40d7" /><Relationship Type="http://schemas.openxmlformats.org/officeDocument/2006/relationships/notesMaster" Target="/ppt/notesMasters/notesMaster1.xml" Id="R6b452c4b3f2d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c0df44e6ae4fe0" /><Relationship Type="http://schemas.openxmlformats.org/officeDocument/2006/relationships/notesMaster" Target="/ppt/notesMasters/notesMaster1.xml" Id="R627a4a64fe0146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b98f8b8046499e" /><Relationship Type="http://schemas.openxmlformats.org/officeDocument/2006/relationships/notesMaster" Target="/ppt/notesMasters/notesMaster1.xml" Id="R62550d63a6f243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b45307f023463d" /><Relationship Type="http://schemas.openxmlformats.org/officeDocument/2006/relationships/notesMaster" Target="/ppt/notesMasters/notesMaster1.xml" Id="R1f640172c4454e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2049612cff4a01" /><Relationship Type="http://schemas.openxmlformats.org/officeDocument/2006/relationships/notesMaster" Target="/ppt/notesMasters/notesMaster1.xml" Id="Rb059523f142c4f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8b2a3225f24b0d" /><Relationship Type="http://schemas.openxmlformats.org/officeDocument/2006/relationships/notesMaster" Target="/ppt/notesMasters/notesMaster1.xml" Id="R870d189f06a44a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71c32f7366430f" /><Relationship Type="http://schemas.openxmlformats.org/officeDocument/2006/relationships/notesMaster" Target="/ppt/notesMasters/notesMaster1.xml" Id="Rb8b447e2775f47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8570c83a9543e1" /><Relationship Type="http://schemas.openxmlformats.org/officeDocument/2006/relationships/notesMaster" Target="/ppt/notesMasters/notesMaster1.xml" Id="R59821b95304945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543d132c0c48b6" /><Relationship Type="http://schemas.openxmlformats.org/officeDocument/2006/relationships/notesMaster" Target="/ppt/notesMasters/notesMaster1.xml" Id="Rf9db51c756c94c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0a08fc892d4b6f" /><Relationship Type="http://schemas.openxmlformats.org/officeDocument/2006/relationships/notesMaster" Target="/ppt/notesMasters/notesMaster1.xml" Id="Rbc6f9964f88b4c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9fd8be3af54636" /><Relationship Type="http://schemas.openxmlformats.org/officeDocument/2006/relationships/notesMaster" Target="/ppt/notesMasters/notesMaster1.xml" Id="R720232afa60841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74304b702e4fd6" /><Relationship Type="http://schemas.openxmlformats.org/officeDocument/2006/relationships/notesMaster" Target="/ppt/notesMasters/notesMaster1.xml" Id="Rd97d1193b46040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开场（约 30 秒）：今天想和大家认真聊一个问题——预测市场到底是不是赌博？这个问题的答案，决定你该不该进场、以及进场后怎么活下来。</a:t>
            </a:r>
          </a:p>
          <a:p xmlns:a="http://schemas.openxmlformats.org/drawingml/2006/main">
            <a:r>
              <a:t>我不是来给结论的，我是带着数据来的：过去两周我们拆了四组 Polymarket 上的真实案例，今天的分享就是这些数据的解读。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内容基于本项目拆解：docs/forensics/KNOWLEDGE_BASE.md、docs/forensics/STRATEGY_LIBRARY.md、docs/forensics/cases/README.md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先告诉大家今天要讲什么：三个问题。第一个问题帮我们摆正心态，第二个问题用数据回答'赢家凭什么赢'，第三个问题落到你自己身上——没有优势，怎么参与。</a:t>
            </a:r>
          </a:p>
          <a:p xmlns:a="http://schemas.openxmlformats.org/drawingml/2006/main">
            <a:r>
              <a:t>全程大约 XX 分钟，中间留几次讨论。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先给结论，再拆逻辑：预测市场本身不是赌博，它是零和的交易市场。</a:t>
            </a:r>
          </a:p>
          <a:p xmlns:a="http://schemas.openxmlformats.org/drawingml/2006/main">
            <a:r>
              <a:t>但这句话有个残酷的尾巴——对没有优势的人，进去之后的结果和赌博没有区别。</a:t>
            </a:r>
          </a:p>
          <a:p xmlns:a="http://schemas.openxmlformats.org/drawingml/2006/main">
            <a:r>
              <a:t>后面我会用四组真实数据证明：长期盈利的地址，靠的不是运气，是三种看得见的优势。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赌场游戏：庄家固定抽水，期望值恒为负，玩得越久越确定亏光，而且和你是谁无关。</a:t>
            </a:r>
          </a:p>
          <a:p xmlns:a="http://schemas.openxmlformats.org/drawingml/2006/main">
            <a:r>
              <a:t>预测市场：近似零和，没有庄家固定抽水。每一块钱的盈利都来自另一个人的亏损。所以能不能赢，取决于你相对于对手有没有优势。</a:t>
            </a:r>
          </a:p>
          <a:p xmlns:a="http://schemas.openxmlformats.org/drawingml/2006/main">
            <a:r>
              <a:t>注意两个限定：第一，这里说的零和暂不计平台手续费与返佣，返佣是平台给做市和流动性的激励，不是庄家抽水；第二，结论是“和没有优势的人相比”，不是绝对说法。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对比框架与限定说明：docs/forensics/prediction_market_vs_gambling.html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把上一页推到结论：市场不是赌场，但如果你没有优势，你就是别人优势的燃料。</a:t>
            </a:r>
          </a:p>
          <a:p xmlns:a="http://schemas.openxmlformats.org/drawingml/2006/main">
            <a:r>
              <a:t>这句话听着刺耳，但它可以被数据检验。接下来四组案例，就是检验过程。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先交代数据：我们拆了四组案例——吉达温度组的完整集套利、EDG vs LGD 的盘口异动、GX vs VIT 的深水买家画像、以及两场同日比赛的赢家对照。</a:t>
            </a:r>
          </a:p>
          <a:p xmlns:a="http://schemas.openxmlformats.org/drawingml/2006/main">
            <a:r>
              <a:t>这些全部来自 Polymarket 公开行情和链上记录，不是推测，是可溯源的原始数据。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docs/forensics/cases/2026-08-12_jeddah_temperature/、docs/forensics/data/fkigedgjdgwbg/、docs/forensics/cases/2026-08-15_lol-gx-vit-game2-address/、docs/forensics/cases/2026-08-18_lol-winner-accounts-t1gen-drxbro/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三种优势的总览。第一种是结构优势——利润和预测结果无关，是数学规则保证的。第二种是信息优势——知道别人不知道的。第三种是资金加分散——用大数法则把波动变成确定性。</a:t>
            </a:r>
          </a:p>
          <a:p xmlns:a="http://schemas.openxmlformats.org/drawingml/2006/main">
            <a:r>
              <a:t>注意每种优势的复制门槛：结构需要工具和返佣，信息几乎不可复制而且有边界，资金分散需要本金和纪律。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先看结构优势，主角是 e46m3。它的运作只有三步：检测 Σp 偏离 1 美元、买入被低估的一侧、用 Convert 和 Merge 立刻兑现价差，不等结算。</a:t>
            </a:r>
          </a:p>
          <a:p xmlns:a="http://schemas.openxmlformats.org/drawingml/2006/main">
            <a:r>
              <a:t>吉达温度组的实测数据：Σp 在 1.0475 到 1.0640 之间，单轮毛利 4.7% 到 6.4%，约 30 秒一轮；过去 12 天做了 5000 次 Convert，单笔中位 0.7 美元，24 小时不间断。</a:t>
            </a:r>
          </a:p>
          <a:p xmlns:a="http://schemas.openxmlformats.org/drawingml/2006/main">
            <a:r>
              <a:t>重点：它的利润和预测结果完全无关——这是数学规则保证的。它不是赌徒，是套利机器。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docs/forensics/KNOWLEDGE_BASE.md §2、docs/forensics/cases/2026-08-12_jeddah_temperature/README.md、docs/forensics/data/e46m3/stats.json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第二种优势是信息优势。8 月 14 日 EDG 对 LGD，LGD 的盘口在 20 分钟里从 0.57 被拉到 0.99，而这个地址在价格打到位之后，以 0.95 到 0.999 的价格追买了 27.7 万美元。</a:t>
            </a:r>
          </a:p>
          <a:p xmlns:a="http://schemas.openxmlformats.org/drawingml/2006/main">
            <a:r>
              <a:t>当天它 794 笔全部是买入、合计约 53 万美元，没有任何卖出；历史单笔最大赢利 8.1 万美元。</a:t>
            </a:r>
          </a:p>
          <a:p xmlns:a="http://schemas.openxmlformats.org/drawingml/2006/main">
            <a:r>
              <a:t>这里要说明：假赛性质来自案例标注的外部推测，我们确认的是行为模式——它在信息确认后才下注。散户没有这个信息，买在同一价位，就是给它接盘。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docs/forensics/data/fkigedgjdgwbg/README.md、docs/forensics/cases/README.md（2026-08-14 EDG vs LGD 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第三种优势是资金加分散。深水机器人每天几十场、每场几百股、只买 15 美分以下的大劣势方。GX 对 VIT 那场，深水买家共 145 人、8 万 6 千份，大额买家几乎全是系统性机器。</a:t>
            </a:r>
          </a:p>
          <a:p xmlns:a="http://schemas.openxmlformats.org/drawingml/2006/main">
            <a:r>
              <a:t>它为什么能赢：单个深水单大概率归零，但几百笔里赢的少数覆盖输的多数——大数法则把波动变成了确定性。这是资金规模和纪律的组合，不是判断力。</a:t>
            </a:r>
          </a:p>
          <a:p xmlns:a="http://schemas.openxmlformats.org/drawingml/2006/main">
            <a:r>
              <a:t>所以真正值得学的是分散结构，不是“买深水”这个动作。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docs/forensics/KNOWLEDGE_BASE.md 关键发现 10/11、docs/forensics/cases/2026-08-15_lol-gx-vit-game2-address/SITUATION_REPORT.md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这个数字很反直觉：我们把两场同日比赛放在一起，889 个在两场都赢钱的账户，场均盈利 3559 美元，是单场赢家 658 美元的 5.4 倍。</a:t>
            </a:r>
          </a:p>
          <a:p xmlns:a="http://schemas.openxmlformats.org/drawingml/2006/main">
            <a:r>
              <a:t>注意样本：这是两场具体比赛的对照，不是一个长期统计，但它指向同一件事——长期盈利的账户在用三种优势之一在玩。你看到的买深水、买高位、买好比赛，只是优势的外表。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docs/forensics/cases/2026-08-18_lol-winner-accounts-t1gen-drxbro/README.md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这是我们自己做的验证：把吉达和 Villarreal 的价格历史重放，模拟“买全套 NO → Convert → 拿现金”的完整流程，计入滑点、手续费和 gas。</a:t>
            </a:r>
          </a:p>
          <a:p xmlns:a="http://schemas.openxmlformats.org/drawingml/2006/main">
            <a:r>
              <a:t>结论：结构机会是真的，而且高频——吉达 24 小时出现 31 个错价窗口。但边很薄：毛利只有投入的约 0.3%，1% 滑点就吃掉大半。保守口径（taker 全收费、无返佣）净期望为负；敏感性表里只有“零滑点加 100% 返佣”才转正。</a:t>
            </a:r>
          </a:p>
          <a:p xmlns:a="http://schemas.openxmlformats.org/drawingml/2006/main">
            <a:r>
              <a:t>e46m3 的现实行为也印证了这一点：它只在 Σp 达到 4.7% 以上才动手、只挑部分腿买、还叠加返佣。所以门槛不在发现错价，在执行质量。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reports/forensics_arb_backtest_jeddah_prices_20260817-095544.md、reports/forensics_arb_backtest_e46m3_villarreal_exact_2026-08-12_20260817-095543.md、tools/forensics_arb_backtester.py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现在说点扎心的：这三种优势，你现在都没有。所以对你来说，当前方式下进入预测市场，和赌博没有区别——你是在和带优势的人玩零和游戏，长期期望为负。</a:t>
            </a:r>
          </a:p>
          <a:p xmlns:a="http://schemas.openxmlformats.org/drawingml/2006/main">
            <a:r>
              <a:t>注意，这不是说你的判断力不行。判断力单独不构成优势，因为对手也有判断力，而且还有你没有的仓位结构。</a:t>
            </a:r>
          </a:p>
          <a:p xmlns:a="http://schemas.openxmlformats.org/drawingml/2006/main">
            <a:r>
              <a:t>所以问题不是该不该玩，而是以什么身份进场。下一页开始讲怎么参与。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参与的第一步不是找机会，是止损自己的行为：30 到 50u 的小账户，先学会输得起；单笔不超过账户 30%，固定金额制，不按比例加仓；规则止损，实盘前先模拟。</a:t>
            </a:r>
          </a:p>
          <a:p xmlns:a="http://schemas.openxmlformats.org/drawingml/2006/main">
            <a:r>
              <a:t>这些都是项目风控里的现成纪律，不是新发明。它们的意义只有一句话：把劣势降到最低，把学费控制在可承受范围。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config/risk_limits.json、AGENTS.md（固定金额制、先 dry-run）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第二步：用彩票预算学分散。深水小仓学的是深水机器人的分散结构——只买 15 美分以下的大劣势方，单笔金额小到归零也不心疼。</a:t>
            </a:r>
          </a:p>
          <a:p xmlns:a="http://schemas.openxmlformats.org/drawingml/2006/main">
            <a:r>
              <a:t>提醒一下：这不是抄底致富的捷径，是付学费买认知。深水机器人的钱来自几百笔的分散，不是单笔的命中。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长期只有三条路：结构，需要工具和返佣门槛，扫描与回测我们已经在建；信息，用公开数据建立可溯源的情报库，正在进行；纪律加时间，慢慢积累资金分散，慢但每一分都在长本事。</a:t>
            </a:r>
          </a:p>
          <a:p xmlns:a="http://schemas.openxmlformats.org/drawingml/2006/main">
            <a:r>
              <a:t>三条都不急，但第一条路——停止无优势下注——现在就该走。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收尾一句话：预测市场不是赌博，但没有优势的人预测就是赌博。那些地址能赢，是因为他们从赌博变成了套利、信息、分散。</a:t>
            </a:r>
          </a:p>
          <a:p xmlns:a="http://schemas.openxmlformats.org/drawingml/2006/main">
            <a:r>
              <a:t>最后留三个问题给大家讨论：你进来是为了赚钱还是参与感？你能接受自己暂时没有优势吗？结构、信息、纪律，你愿意为哪一条花半年？</a:t>
            </a:r>
          </a:p>
          <a:p xmlns:a="http://schemas.openxmlformats.org/drawingml/2006/main">
            <a:r>
              <a:t>谢谢，欢迎讨论。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c4e0faaa2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046107f9024afd" /><Relationship Type="http://schemas.openxmlformats.org/officeDocument/2006/relationships/slideLayout" Target="/ppt/slideLayouts/slideLayout1.xml" Id="R53c5c8d0eca6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c5c8d0eca6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ac0a8531845b2" /><Relationship Type="http://schemas.openxmlformats.org/officeDocument/2006/relationships/notesSlide" Target="/ppt/notesSlides/notesSlide1.xml" Id="Rde0f815e6ccd42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cd5e72b9543d3" /><Relationship Type="http://schemas.openxmlformats.org/officeDocument/2006/relationships/notesSlide" Target="/ppt/notesSlides/notesSlide2.xml" Id="R0e0ae6829d3f48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a3a21d77d4f9c" /><Relationship Type="http://schemas.openxmlformats.org/officeDocument/2006/relationships/notesSlide" Target="/ppt/notesSlides/notesSlide3.xml" Id="R00e90cd4a54a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3f4956e79472d" /><Relationship Type="http://schemas.openxmlformats.org/officeDocument/2006/relationships/notesSlide" Target="/ppt/notesSlides/notesSlide4.xml" Id="R41219d700c034e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0f4d9ce5c4a59" /><Relationship Type="http://schemas.openxmlformats.org/officeDocument/2006/relationships/notesSlide" Target="/ppt/notesSlides/notesSlide5.xml" Id="Rfd862c2a95e54f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3e7a879f9418b" /><Relationship Type="http://schemas.openxmlformats.org/officeDocument/2006/relationships/notesSlide" Target="/ppt/notesSlides/notesSlide6.xml" Id="Ra3e5fcae0a8849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1dce315c84bcb" /><Relationship Type="http://schemas.openxmlformats.org/officeDocument/2006/relationships/notesSlide" Target="/ppt/notesSlides/notesSlide7.xml" Id="R4c434398bf1f4b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aa7fb6c4e4ef4" /><Relationship Type="http://schemas.openxmlformats.org/officeDocument/2006/relationships/notesSlide" Target="/ppt/notesSlides/notesSlide8.xml" Id="Rd189ce69303944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16327404e4e13" /><Relationship Type="http://schemas.openxmlformats.org/officeDocument/2006/relationships/notesSlide" Target="/ppt/notesSlides/notesSlide9.xml" Id="R8b922666f8794d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9715309c2458e" /><Relationship Type="http://schemas.openxmlformats.org/officeDocument/2006/relationships/notesSlide" Target="/ppt/notesSlides/notesSlide10.xml" Id="Rc0209eb6d14341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559c6c5d74549" /><Relationship Type="http://schemas.openxmlformats.org/officeDocument/2006/relationships/notesSlide" Target="/ppt/notesSlides/notesSlide11.xml" Id="R2cbeee20cfad4a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1bcf1a09f4b73" /><Relationship Type="http://schemas.openxmlformats.org/officeDocument/2006/relationships/notesSlide" Target="/ppt/notesSlides/notesSlide12.xml" Id="Ref51c6051c3c4c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cadc6fede4cc8" /><Relationship Type="http://schemas.openxmlformats.org/officeDocument/2006/relationships/notesSlide" Target="/ppt/notesSlides/notesSlide13.xml" Id="Rbec6c326df0446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44dc60aa04c84" /><Relationship Type="http://schemas.openxmlformats.org/officeDocument/2006/relationships/notesSlide" Target="/ppt/notesSlides/notesSlide14.xml" Id="R65dd37f15e6a4c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6b549b3984f84" /><Relationship Type="http://schemas.openxmlformats.org/officeDocument/2006/relationships/notesSlide" Target="/ppt/notesSlides/notesSlide15.xml" Id="Re5ced63158464a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a759b498a4e18" /><Relationship Type="http://schemas.openxmlformats.org/officeDocument/2006/relationships/notesSlide" Target="/ppt/notesSlides/notesSlide16.xml" Id="R1ce567b072e049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f80dae864476e" /><Relationship Type="http://schemas.openxmlformats.org/officeDocument/2006/relationships/notesSlide" Target="/ppt/notesSlides/notesSlide17.xml" Id="R11c2f4f9624b4b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B8297-4AD9-4497-A41C-7E8675D4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分享讨论 · 基于 Polymarket 公开数据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4F640-FA90-4BEB-8808-5EAB2DA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A3984-BF95-458D-848F-5961CB69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预测市场，到底是不是赌博？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F5C6F-CC35-43C0-BB04-0D293352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以及——没有优势的人，该怎么参与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808C7-1F30-4049-90EB-89C64C22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用真实数据拆解：结构优势 / 信息优势 / 资金与分散 · 2026-08</a:t>
            </a:r>
          </a:p>
        </p:txBody>
      </p:sp>
    </p:spTree>
    <p:extLst>
      <p:ext uri="{BB962C8B-B14F-4D97-AF65-F5344CB8AC3E}">
        <p14:creationId xmlns:p14="http://schemas.microsoft.com/office/powerpoint/2010/main" val="657943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689F5-3E26-427F-ACB3-46DC775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今天的路线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AE107-AE61-47EF-B6CB-8996F25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三个问题，一条主线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0BF55-8E2A-43A9-842D-75B0A420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05C1A-182E-4623-AB3D-9BEAD90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68A6F-BCC4-4DD3-A14C-66D987B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预测市场是赌博吗？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F3B17-29DD-4C78-91D5-72879E01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先给一个会被质疑的结论，再用期望值拆开看。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06B4A-B16D-471B-A838-953092B2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BFABA-B970-4EA8-B957-01A52B79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32DC7-2256-4EB7-92FA-90E42C7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86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长期盈利的人，到底靠什么？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B16E4-B61E-4DAF-AC1C-1856AF5A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481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三种能从数据里看见的优势：结构、信息、资金与分散。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60AA3-B068-4031-8A46-13783B39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068A5-53B2-405C-B829-948FD9DE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10E3F-31E1-498A-ACB1-B4AEE16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38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没有优势的人，该怎么参与？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FF74C-CFC0-4A74-A4CB-39A94FC2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三个可执行的起点——以及一条现在就该走的路。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5702E-8C23-4C30-8D66-B33905D4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预测市场 · 是不是赌博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149B2-D2A8-475F-A0EE-CAAEB8FB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3414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B63BB-0DFF-4215-9A93-958F1981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先说结论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B04A6-DCFB-4EED-99E9-AB7A1A09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预测市场不是赌博——它是零和的交易市场。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90D9E-2E8E-494F-917C-96C08D04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但对“没有优势的人”来说，进去之后的结果，和赌博没有区别。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213C-6B36-40F1-9C42-F398D17B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那些地址能长期盈利，不是因为他们运气好，是因为他们带着优势进来。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C6799-C224-4FA7-991D-A959097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预测市场 · 是不是赌博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A166E-B9C2-4F3F-9F0A-B6695914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1219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F9B9D-1C28-4714-991E-B9DA099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先分清两件事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252DB-A143-4BF6-ACAC-0E80A12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赌场游戏和预测市场，输赢的决定因素完全不同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FDEE2-043F-4CF5-9AED-56368B8A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238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D469F-E546-452E-9CDB-8FABA604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赌场游戏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8EEEF-1DF6-410F-BD79-A5405F7C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轮盘 / 老虎机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344AD-5C0F-4B45-9EEE-7F0631FD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庄家固定抽水，期望值永远是负的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你玩得越久，越确定亏光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输赢和“你是谁”无关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0D420-3AF2-4810-861D-A43185DE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5238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9388F-6812-4533-B313-47E7EEC1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预测市场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151E1-96FF-4785-846C-A6C3A96B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Polymarket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9E670-2FAC-4EEA-AB31-842577CA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零和：每一块钱的盈利，都来自另一个人的亏损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没有庄家固定抽水（暂不计手续费与返佣）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输赢取决于：你和对手相比，有没有优势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4CD19-4204-4090-99CF-0AD823E8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所以决定结果的是“相对优势”，不是运气。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B7F1B-6B73-486C-81B1-4BE8CDC6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预测市场 · 是不是赌博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D2CCC-6952-4219-B137-9B89CE2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1388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646DF-7E8A-4189-A3CF-9ADA89E2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市场不是赌场；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04210-5685-431E-ABB9-8ECA053E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但如果你没有优势，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8078E-846B-436B-BF9D-1B793CCD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你就成了别人优势的燃料。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0F0D5-FA8B-4B0B-8524-966F64EF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这不是吓唬人——下一页开始，我们用数据看赢家到底带什么进场。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9A0D1-CD6B-4F8F-AA08-291A3074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预测市场 · 是不是赌博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E75C7-163C-4433-9546-8D7D8A49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3615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C45B1-BD7E-4EF7-ADEE-D7C0BA22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我们手里的数据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565C1-AADB-4E9A-9324-3024C28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四组真实案例，覆盖三种优势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FC8C5-9814-4481-AA88-932D9E56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2387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24B2E-554A-4239-B6E9-11B7578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结构套利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CCBC5-3734-47E7-98E0-23A0E865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e46m3 · 吉达温度组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3F18E-0839-474F-96A7-C41116B1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11 档完整集，Σp 长期偏离 $1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FA279-4D7A-4F7F-88F8-96270982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单轮毛利 4.7%~6.4%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47770-E01D-41F4-9114-2B9F6F4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52387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C4905-FE7A-4AB5-A935-FE3ABF3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信息优势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7C442-9BA5-4662-93FA-0B01BD1B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fkigedgjdgwbg · EDG vs LGD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B304D-C59F-4439-8296-7A2A70C1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LGD 盘口 20 分钟 0.57 → 0.99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0D29A-5EC4-49CD-9D3F-4148556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86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追买 $277,608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0289B-59A2-4F04-83DC-E59E46E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2387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824B9-EA68-417A-B992-3E86F4C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资金 + 分散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3747E-86C6-4ABC-9EB0-2175999D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深水机器人簇 · GX vs VIT G2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7CA4B-2673-49A6-9942-0D6334CF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深水（≤0.15）买家逐一画像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BEEBC-FBA2-414D-9F73-96EDA0E0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145 人 / 86k 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7527F-B9B2-4715-B2FD-5FE7559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52387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490F9-FE8A-44A1-A943-1CBB4AD6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5.4 倍差距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88BB9-B9E9-4906-83EC-4D73D0C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赢家账户对照 · 两场同日比赛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1FEA2-0231-419D-8CE1-E9554879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889 个跨场共同赢家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26430-CFCB-4D9C-B263-66E01CC9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场均 $3,559 vs $658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CF912-351F-4318-9A9D-2596ED1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数据全部来自公开行情与链上记录，每一组都能溯源到原始文件。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E62F6-0E32-47AC-9E88-7A7E60D0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预测市场 · 是不是赌博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16DE2-E46D-426F-A7AF-A698F24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670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44DE4-84E4-4FC7-9D78-C96A95FC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赢家们带什么进场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124CD-C241-4C60-8F2D-80AAC276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三种优势，每一种都能从数据里看到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31190-39CA-47FD-A134-E4D178E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352800" cy="3543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96B00-79B3-4EEF-91C7-53867DB1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3315D-F6B7-4EE3-9382-A6965D52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结构优势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FD998-0262-4FCD-9EA2-629E3BC0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利润与预测结果无关，由数学规则保证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A6212-22D3-4B11-9BF5-21F83EC1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检测 Σp 偏离 $1，买低估侧，Convert 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BEE6A-340C-42E3-9838-16A3058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复制门槛：工具 + 返佣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4AD5E-86D9-4977-89C7-FA24FFF7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3352800" cy="3543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E0CEC-C11D-4387-8348-C7A02F57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C5826-0F71-4BEB-A29C-1944B97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信息优势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803CF-1A59-497F-8EC6-15395EDE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知道别人不知道的（甚至是不该知道的）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63678-827F-44AD-A30F-FF7882B7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价格被打到位后，确认信息再下大注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521CB-F080-4CE6-A3A5-EF05C86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复制门槛：不可复制，且有边界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C84C3-44A2-443F-9E85-033286BC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352800" cy="3543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FA7AE-6E37-487C-9D00-872CA11A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5EA51-BCEC-4B17-A76C-78D4DCAE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资金 + 分散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FDA2D-F2BD-4BF4-8FFF-532D9FD4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大数法则把波动变成确定性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740B3-E4D3-451B-A1D8-5736A66D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几百笔小额深水，少数赢家覆盖多数输家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BCB09-988E-4FFB-A37F-89B37066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复制门槛：本金 + 纪律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C0033-C36B-408B-AA33-AF5E831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长期盈利的账户，至少带着其中一种；你看到的动作，只是优势的外表。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F11B9-4F23-47C1-96A2-DB87E79A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三种优势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A2E2F-DBA2-47F8-8819-404B9D48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5692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61A54-9E72-421C-84D9-3E421A4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优势 01 · 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BE297-DB9D-4AFF-A0DB-48A1E512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e46m3：不猜比赛，做完整集套利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0FF28-B3C3-4E96-9523-B110C43E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A578E-F324-46DD-9CBC-2625A45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它怎么运作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6003F-DF99-4DA4-936F-71529A0C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D7454-EEA6-4725-873B-C3A118F3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14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3E759-C68B-4BA2-B259-D40F747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19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同一组结果的 YES 价格之和 Σp 偏离 $1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A773B-69AF-463B-95C2-DA05F95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B53F8-26E9-4A19-8576-AA10EA7D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买入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17D5C-E3E0-4B84-B4E1-6480DFF7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买被低估的一侧（例如全套 NO）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15676-5644-4FA8-B3CE-E0452A3E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D5DAF-5FD0-46F2-9B4F-679A0BB8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兑现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CBCA7-4D67-47AD-8375-73FC663C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Convert / Merge 立刻换成现金，不等结算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8AB9F-109A-4AEA-8F89-544DAFF5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结论：与预测结果完全无关——它不是赌徒，是套利机器。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D7C8C-2446-415B-8190-9C9A438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5524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C4B59-3EE1-45EC-8C7D-C0D35F25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吉达温度组 · 实测数据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18D69-4D4D-4159-8ADA-553C648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Σp = 1.0475 ~ 1.0640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3BE4F-422A-4A7A-9DE7-3D61FFE5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完整集定价偏离，全套 NO 被低估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857FD-F8FC-4648-A701-DEEB7E0E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单轮毛利 4.7% ~ 6.4%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1E0F6-83A5-438F-8D1F-D787813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约 30 秒一轮，循环兑现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48BBA-1A1F-4A57-BE95-515697E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12 天 5,000 次 Convert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40956-82A1-472F-928A-D12ED08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单笔中位 $0.70，24×7 自动化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5EE91-3309-49D6-9ABD-37EE583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三种优势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06F69-96FF-48FF-B344-9550BA6E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8892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80390-FE65-4E30-9AE5-2AE7E73B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优势 02 · 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D15A2-C997-4388-9C50-865CC61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fkigedgjdgwbg：确认信息后，才下大注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F01A5-C06F-4714-B2E3-DBE90FC1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B8BB-0F11-47D5-B284-6D34673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EDG vs LGD · LGD 盘口时间线（UTC）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89E8D-395E-411A-9762-85E299E2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07:00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FB72B-DD8E-4A5F-A211-CDF158B6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33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0.57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69C18-421F-4D4D-A207-251984C8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赛前，LGD 只是小热门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D7335-C21D-47D5-BD84-BA42494A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07:20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C7E46-59E8-4744-B88B-76134518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766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0.645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4F498-B418-46ED-8072-B5EAA908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开始异动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734A5-9973-4FE7-85C4-FB3B84A5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07:40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7F479-D069-43E3-BB54-670936B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195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0.994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CB050-E849-4B7A-9801-6A9C8D7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20 分钟内拉到 0.99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00903-AF81-4B72-977F-2C3ABBC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07:44 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55AB3-2733-4C6D-BF7B-8DC9B489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625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0.95~0.999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99049-5764-4FFF-9AF5-D776789F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该地址开始大额追买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CF361-E489-4A42-927F-D3C785F5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5524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717A9-BD3C-4E93-B16D-A161F3AD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8 月 14 日 · 账户行为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6152F-D633-4AC5-A78F-A87695D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$277,608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EEFD6-3A34-43D0-A118-3B48077C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追买 LGD，成交价 0.95~0.999（三块盘合计）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0D428-81E2-4442-A469-08ACEB9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794 笔 / 单日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F3452-268F-435D-9ED6-D729AB2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全部为买入，合计约 $531,992，无任何卖出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BDB10-9BC1-4CE6-BEBA-DF43E2E5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$81,676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B1553-758F-4C08-9ACE-7833E638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单笔最大赢利，历史累计 3,139 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21B3C-4514-464B-BFF0-C01B113A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它是在信息确认后才下注；散户买在同一价位，就是在给它接盘。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BDAA2-C605-46FC-B4C2-1B23A80D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三种优势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48648-3FA6-46FA-A166-79B73AAE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1082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554AB-4C0A-4E93-A15C-F2660935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优势 03 · 资金 + 分散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77004-FA82-4B8A-BFD7-E98CF7D1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深水机器人簇：用几百笔小注换确定性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1A63E-5A0D-454C-B09E-4A2ACAA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1510B-2803-47D3-AF59-F8578677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它们的行为特征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6B527-9135-44A0-823B-C8EA10C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每天几十场，每场几百股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只买 ≤ $0.15 的大劣势方（深水）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GX vs VIT G2：深水共 145 人 / $8.5k / 86k 份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大额买家几乎全是系统性深水机器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F8BB3-9B60-46DA-BB35-F6DBD0D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5524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85A7A-1360-43CB-B980-2904E10B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为什么这样能赢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E6478-BE3A-40FD-A021-A217801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单个深水单大概率归零——没关系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几百笔里，赢的少数覆盖输的多数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大数法则把波动变成了确定性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这是资金规模和纪律的组合，不是判断力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C18A6-2BA6-4F30-879B-EC9158DF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你想学的不是“买深水”，是它背后的分散结构。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59D18-241F-49AA-B939-69242B3B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三种优势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D5FA3-4A1E-4B9F-BD98-7B41D5AE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92374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91ACD-5B97-4A06-A419-FC1BE51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一个反直觉的数字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39EF5-0B5C-4351-A03A-8C960FC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跨场赢家 vs 单场赢家：5.4 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2554A-F17E-433C-9100-B4F782C6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5.4×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F489D-949E-4358-BBDE-1D5F062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两场同日比赛（Gen.G vs T1 &amp; DRX vs BRO）· 889 个共同赢家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42A8F-7B5F-4EB9-9C09-08477FD6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6240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0F73D-9D7C-4A42-804F-7B5217DF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529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$3,559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2F8DB-8AFF-4C28-9EBB-6A6173FE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跨场赢家 · 场均盈利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01D25-C538-42B7-A21B-67DD0428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59916-B790-46DD-A866-EF74FB95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$658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A0436-EB35-4E91-9C6C-DE0503A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单场赢家 · 场均盈利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1F2E6-A5B6-4AFE-9AEE-97F7C83F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逻辑：长期盈利者都在用三种优势之一在玩；“买深水 / 买高位 / 买好比赛”只是优势的外表。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92965-9BFD-43B2-90D6-A55FA5D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三种优势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5EB6B-37A4-4013-B977-1B52913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2838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3DB10-A785-43D5-8174-995AF2AA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我们亲自验证 · 结构套利回测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D4F93-53BA-45C5-ACC3-26B368E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机会是真的，但门槛在执行质量，不是发现错价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BF4E4-092F-4925-9A4A-2946EB12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381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06E08-2267-49FF-ABF4-E1CFE649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回测结论（保守口径）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7F460-B2AC-4C0B-AB86-44FF6FF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结构机会真实且高频：吉达 24 小时出现 31 个错价窗口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但边很薄：毛利约 0.3% / 轮，1% 滑点就吃掉大半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taker 全收费、无返佣口径：净期望为负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敏感性：只有“零滑点 + 100% 返佣”才转正（+$6.77）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e46m3 只在 Σp≥1.0475 动手、挑腿买、叠返佣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448300" y="2057400"/>
          <a:ext xmlns:a="http://schemas.openxmlformats.org/drawingml/2006/main" cx="6057900" cy="28575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000250"/>
                <a:gridCol w="2028825"/>
                <a:gridCol w="2028825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吉达温度组</a:t>
                      </a:r>
                    </a:p>
                  </a:txBody>
                  <a:tcPr marL="91440" marR="91440" marT="45720" marB="45720"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Villarreal 比分</a:t>
                      </a:r>
                    </a:p>
                  </a:txBody>
                  <a:tcPr marL="91440" marR="91440" marT="45720" marB="45720">
                    <a:solidFill>
                      <a:srgbClr val="1D1D1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Σp 范围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0.989 ~ 1.0835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0.957 ~ 1.0765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错价窗口（≥2%）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 个 / 24h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个 / 1.3h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毛利（X=$10）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$8.32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$0.77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摩擦（滑点+费+gas）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$27.18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D1D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$2.06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071E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保守口径净利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071E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−$18.86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071E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−$1.29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5BEA0-B823-4A96-A95D-919290A9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结论：结构套利不是“能不能发现”，而是“有没有工具和返佣把它做出来”。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F910E-1D3C-4906-B385-30872CC3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我们自己的验证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94AEC-52BD-4DF0-9DC6-80CECAD6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57119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466C2-0823-4520-B5A0-A08041F6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那对你意味着什么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4FD3C-999A-4A28-AA0C-D4B6C40E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诚实版本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55278-BF53-434A-B3C8-78AB9B88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84644-D40B-4406-88E5-B4381840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你现在没有这三种优势——没有套利引擎、没有内幕信息、没有大资金分散。所以对你来说，当前方式下进入预测市场 ≈ 赌博。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312B1-5447-4D2E-85F6-A62F3D1F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D8420-C08D-40D2-BF43-F5EB5C91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你是在和带着优势的人玩零和游戏，长期期望是负的。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AC1B-3CB8-45FA-BA98-D2010DB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35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这不是侮辱你的判断力——判断力单独不构成优势：你的对手也有判断力，而且他们还有你没有的仓位结构。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1BFE-925F-41DD-B0A1-569E3D61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所以问题不是“该不该玩”，而是“以什么身份进场”。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B58F7-B0FB-4C47-BBDE-6E24D941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怎么参与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C475F-2CDF-49E1-A5E2-36090A83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48502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5C7D8-040D-401B-A783-CBD66434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怎么参与 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E1801-A508-4239-A9ED-4C994E88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先停止“无优势的下注”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D6977-89BF-41F5-8F08-7C6D1F0E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DE84D-37E5-4ED1-BE80-EBBB2F78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30–50u 小账户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AA91C-CBAB-466C-A9CC-A820BC33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先学会输得起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F4FBA-A309-41F4-B570-81D5E2CF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用一笔归零也不影响生活的钱进场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C8538-12C2-44D7-8FB2-9C18BAC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A8566-EAD7-43ED-8FC8-4996FA3B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单笔 ≤ 30% 账户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06FE0-8CE2-4295-8DC4-D4C123D8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固定金额制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896A2-C209-48AE-88C6-79D8676B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不按比例加仓，不做“回本式”下注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B1EAE-6F64-41D3-9704-F1E1D802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B8E8B-959C-4382-95F4-BF8C6AF1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规则止损 + 先 dry-run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F2B52-A7F9-42C6-B865-6438C4B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实盘前先模拟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AF140-CCFF-41E1-83B7-663F47D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所有动作先在模拟环境里过一遍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51C0C-170D-4423-81C1-4CEB4CE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这一步的意义：把劣势降到最低，把学费控制在可承受的范围。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9CD2E-C892-485A-9D48-5E61ECA5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怎么参与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AD047-966E-4467-BAF0-853EA8F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00427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41CF7-5BA1-4CEE-853B-AB0C7E9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怎么参与 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A6607-6669-48FA-B1D1-1A92E6A8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用“彩票预算”学分散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15458-CC39-41B4-8295-358D7CF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D1FED-7A73-478F-BC74-0983661D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深水小仓 = 深水机器人的“分散”结构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5541C-49FC-42B9-8D0E-47A8D319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只买 ≤ 15¢ 价位的大劣势方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单笔金额小到“归零也不心疼”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用一批小注，而不是一把大注，去理解胜率结构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BC5C1-7300-46DE-88E6-E28835BF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目标：先学结构（怎么分配、怎么止损），再学动作。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F2B6A-9592-4441-A5A4-E89CC3E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65B09-5C40-4A51-8D03-CDF5511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327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一个提醒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450E3-216E-4881-80A1-FB26727E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3276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这不是“抄底致富”的捷径，是付学费买认知。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深水机器人的钱来自几百笔的分散，不是单笔的命中。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CD3DC-489C-4750-AF53-4916BBB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彩票预算 = 你能承受的“学费上限”，不是仓位建议。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8F2E0-2A7B-49A4-B9BD-4A23A00A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怎么参与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E7A6F-07F2-4D5D-B323-182C6DFD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30500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079F6-D72C-48AF-8AD6-0B8114CA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怎么参与 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516E5-E1DF-4A3C-BD39-FFADEFB4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长期三条路，选一条认真走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47FA1-FAB8-406A-9DEC-42965211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528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D253E-22A8-4271-ABAE-8A7E09E6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5240E-075B-40B0-9E99-369F697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535AC-E15D-4D36-B987-34401449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套利 / 做市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5F04B-BDB3-45CF-9AD7-749BAD2D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需要工具与返佣门槛——扫描与回测我们已经在建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3A029-B885-471E-BD49-68AD1EFC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528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3988C-FCF2-494D-9755-6E8B9BFC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A9B84-F09B-4478-B597-1839D079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37BB6-088B-413D-9851-921E08BD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情报库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D4183-69F1-423A-B5A8-932FB4D6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576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用公开数据建立可溯源的信息优势——进行中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04F14-FD3E-4FAB-AAD1-460CD4B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3528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2D864-C8CD-4FDC-A05A-FAB83271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FA52C-D5A2-4F81-A0E0-DB79D9C8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纪律 + 时间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13A4F-CA3C-4D29-859E-3ADA6BE9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资金分散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9A584-DE91-46E2-BE60-27374591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慢，但每一分钱都在长本事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BD8A0-28B9-439B-A7C4-9D8700E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三条都不急，但第一条路——停止无优势下注——现在就该走。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466CB-CD35-43D0-95CE-FA0AB74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怎么参与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1BC0A-6E53-41DE-82A0-459380A9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13328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BEC7-44A6-4D52-8394-4F9D575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预测市场不是赌博，但“没有优势的人预测”就是赌博。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792D3-3B3B-476F-8F98-622F83A0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那些地址能赢，是因为他们从赌博，变成了套利 / 信息 / 分散。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2ECB9-1FA0-4C8B-8381-C877AB14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8572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5A707-CB6E-4B06-A549-1CA851D7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留给讨论的三个问题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13772-0B7B-40EB-B00F-02FC443E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790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你进预测市场，是为了赚钱，还是为了参与感？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你能接受“我暂时没有优势”吗？如果不能，凭什么？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结构、信息、纪律——你愿意为哪一条花半年？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C5AF3-A3FA-49DA-B22E-81572D1D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谢谢 · 欢迎讨论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80E78-F667-4762-A489-7E6947E7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结束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DC0FA-B34A-40A6-A043-DAFD5BFF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4568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2026-08-17T10:01:02.7830000Z</dcterms:created>
  <dcterms:modified xsi:type="dcterms:W3CDTF">2026-08-17T10:01:02.7830000Z</dcterms:modified>
</coreProperties>
</file>